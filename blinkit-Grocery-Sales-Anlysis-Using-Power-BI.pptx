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unnel Display Light"/>
      <p:regular r:id="rId201314"/>
    </p:embeddedFont>
    <p:embeddedFont>
      <p:font typeface="Funnel Display"/>
      <p:regular r:id="rId201315"/>
    </p:embeddedFont>
    <p:embeddedFont>
      <p:font typeface="Funnel Display Medium"/>
      <p:regular r:id="rId201316"/>
    </p:embeddedFont>
    <p:embeddedFont>
      <p:font typeface="Funnel Display Bold"/>
      <p:regular r:id="rId201317"/>
    </p:embeddedFont>
    <p:embeddedFont>
      <p:font typeface="Funnel Display ExtraBold"/>
      <p:regular r:id="rId201318"/>
    </p:embeddedFont>
    <p:embeddedFont>
      <p:font typeface="Funnel Display SemiBold"/>
      <p:regular r:id="rId201319"/>
    </p:embeddedFont>
    <p:embeddedFont>
      <p:font typeface="Funnel Sans Bold"/>
      <p:regular r:id="rId201320"/>
    </p:embeddedFont>
    <p:embeddedFont>
      <p:font typeface="Funnel Sans ExtraBold"/>
      <p:regular r:id="rId201321"/>
    </p:embeddedFont>
    <p:embeddedFont>
      <p:font typeface="Funnel Sans Light"/>
      <p:regular r:id="rId201322"/>
    </p:embeddedFont>
    <p:embeddedFont>
      <p:font typeface="Funnel Sans"/>
      <p:regular r:id="rId201323"/>
    </p:embeddedFont>
    <p:embeddedFont>
      <p:font typeface="Funnel Sans Medium"/>
      <p:regular r:id="rId201324"/>
    </p:embeddedFont>
    <p:embeddedFont>
      <p:font typeface="Funnel Sans Semi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blinkit — Grocery Sales Anlysis Using Power BI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Snapshot: total sales $1.20M, avg sales $141, 8,523 items, avg rating 4. A concise view of sales, assortment, and outlet performance.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307009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Metrics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971377"/>
            <a:ext cx="1456209" cy="857771"/>
          </a:xfrm>
          <a:prstGeom prst="roundRect">
            <a:avLst>
              <a:gd name="adj" fmla="val 7326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7912" y="2125712"/>
            <a:ext cx="1147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7912" y="2435423"/>
            <a:ext cx="114753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$1.20M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129358" y="1971377"/>
            <a:ext cx="1456209" cy="857771"/>
          </a:xfrm>
          <a:prstGeom prst="roundRect">
            <a:avLst>
              <a:gd name="adj" fmla="val 7326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3693" y="2125712"/>
            <a:ext cx="1147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Avg Sales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83693" y="2435423"/>
            <a:ext cx="114753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$141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35139" y="1971377"/>
            <a:ext cx="1456209" cy="857771"/>
          </a:xfrm>
          <a:prstGeom prst="roundRect">
            <a:avLst>
              <a:gd name="adj" fmla="val 7326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89474" y="2125712"/>
            <a:ext cx="1147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No. of Items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889474" y="2435423"/>
            <a:ext cx="114753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8,523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577" y="2978721"/>
            <a:ext cx="4667771" cy="857771"/>
          </a:xfrm>
          <a:prstGeom prst="roundRect">
            <a:avLst>
              <a:gd name="adj" fmla="val 7326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7912" y="3133055"/>
            <a:ext cx="43591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Avg Rating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77912" y="3442767"/>
            <a:ext cx="43591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7594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Fat Content — Sales Breakdown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808559"/>
            <a:ext cx="3865959" cy="21906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2357810"/>
            <a:ext cx="3865959" cy="10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Distribution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Low Fat $425.36K — Regular $776.32K (Total $1.20M).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Insight: Regular products drive the larger share of sales while low-fat items contribute a significant minority.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7594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Fat Outlet by Tier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808559"/>
            <a:ext cx="3865959" cy="21906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2185764"/>
            <a:ext cx="3865959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Tier 3: Low Fat $0.31M, Regular $0.17M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Tier 2: Low Fat $0.25M, Regular $0.14M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Tier 1: Low Fat $0.22M, Regular $0.12M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59226" y="3143176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Observation: Low-fat sales exceed regular across all tiers, especially in Tier 3.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7594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Item Type Sales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808559"/>
            <a:ext cx="3865959" cy="21906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2238077"/>
            <a:ext cx="3865959" cy="13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Top categories by sales: Fruits &amp; Snacks ~$0.18M each, Household ~$0.14M, Frozen ~$0.12M, Dairy ~$0.10M. Lower-performing: Seafood, Breakfast, Starchy items.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Implication: Focus assortment and promotions on highest-value categories to drive incremental sales.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0205"/>
            <a:ext cx="809684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Outlet Establishment Trend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854869"/>
            <a:ext cx="8096845" cy="36435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70232" y="1044150"/>
            <a:ext cx="1416931" cy="205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Early Growth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070232" y="1312379"/>
            <a:ext cx="1416931" cy="28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Rise from 78K to ~133K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60859" y="3848694"/>
            <a:ext cx="1424716" cy="205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2018 Peak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860859" y="4116923"/>
            <a:ext cx="1424716" cy="143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Sharp spike to 205K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96987" y="1016901"/>
            <a:ext cx="1416931" cy="205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Stabilization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96987" y="1285130"/>
            <a:ext cx="1416931" cy="28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Stable ~130K through 2022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3577" y="4567461"/>
            <a:ext cx="8554045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Annual outlets: 2012 (78K), 2013 (130K), 2014 (132K), 2015 (131K), 2016 (132K), 2017 (133K), 2018 (205K), 2019 (129K), 2020 (131K), 2021 (131K), 2022 (131K). Note the 2018 spike to 205K.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7594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Outlet Size Distribution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808559"/>
            <a:ext cx="3865959" cy="21906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2357810"/>
            <a:ext cx="3865959" cy="10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 by size: Medium $507.90K, Small $444.79K, High $248.99K.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Medium outlets contribute the largest share; small outlets are also significant.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7594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Outlet Location (Tier) Performance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808559"/>
            <a:ext cx="3865959" cy="21906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2357810"/>
            <a:ext cx="3865959" cy="10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Tier sales: Tier 3 $472.13K, Tier 2 $393.15K, Tier 1 $336.40K.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Combined Tiers 2 &amp; 3 = 71.3% of total — demand concentrated outside Tier 1.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2251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Outlet Type Performance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661740"/>
            <a:ext cx="8096845" cy="2151534"/>
          </a:xfrm>
          <a:prstGeom prst="roundRect">
            <a:avLst>
              <a:gd name="adj" fmla="val 292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8340" y="1666503"/>
            <a:ext cx="8087320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77912" y="1761009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Outlet Type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15221" y="1761009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128320" y="1761009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Avg Sales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41418" y="1761009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No. of Items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54516" y="1761009"/>
            <a:ext cx="13687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Avg Rating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8340" y="2094905"/>
            <a:ext cx="8087320" cy="4284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77912" y="2189411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Supermarket Type1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15221" y="2189411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$787,549.89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8320" y="2189411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$141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41418" y="2189411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5,577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54516" y="2189411"/>
            <a:ext cx="13687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8340" y="2523306"/>
            <a:ext cx="8087320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7912" y="2617812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Grocery Store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15221" y="2617812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$151,939.15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28320" y="2617812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$140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41418" y="2617812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1,083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54516" y="2617812"/>
            <a:ext cx="13687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28340" y="2951708"/>
            <a:ext cx="8087320" cy="4284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77912" y="3046214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Supermarket Type2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15221" y="3046214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$131,477.78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28320" y="3046214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$142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41418" y="3046214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928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54516" y="3046214"/>
            <a:ext cx="13687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8340" y="3380110"/>
            <a:ext cx="8087320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77912" y="3474616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Supermarket Type3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915221" y="3474616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$130,714.67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28320" y="3474616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$140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41418" y="3474616"/>
            <a:ext cx="136639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935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54516" y="3474616"/>
            <a:ext cx="13687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3577" y="3981524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Supermarket Type1 dominates sales and item count; visibility varies across types.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72881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Conclusions &amp; Focus Areas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393180"/>
            <a:ext cx="1456209" cy="30214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8400" y="1561802"/>
            <a:ext cx="1042764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Drive Category Growth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8400" y="2311450"/>
            <a:ext cx="1042764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Prioritize Fruits, Snacks, Household, Frozen, and Dairy for promotions and assortment.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29358" y="1393180"/>
            <a:ext cx="1456209" cy="302143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74181" y="1561802"/>
            <a:ext cx="10427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Leverage Outlet Mix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2374181" y="2091482"/>
            <a:ext cx="104276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Target Medium and Tier 3/2 outlets where majority of sales occur.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35139" y="1393180"/>
            <a:ext cx="1456209" cy="30214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79962" y="1561802"/>
            <a:ext cx="10427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Optimize SKUs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3979962" y="2091482"/>
            <a:ext cx="1042764" cy="2154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Focus assortment on high-value items (Supermarket Type1 segment) and improve item visibility.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2026-07-28T06:56:37Z</dcterms:created>
  <dcterms:modified xsi:type="dcterms:W3CDTF">2026-07-28T06:56:37Z</dcterms:modified>
</cp:coreProperties>
</file>